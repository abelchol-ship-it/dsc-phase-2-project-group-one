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85" r:id="rId3"/>
    <p:sldId id="257" r:id="rId4"/>
    <p:sldId id="258" r:id="rId5"/>
    <p:sldId id="259" r:id="rId6"/>
    <p:sldId id="260" r:id="rId7"/>
    <p:sldId id="261" r:id="rId8"/>
    <p:sldId id="274" r:id="rId9"/>
    <p:sldId id="276" r:id="rId10"/>
    <p:sldId id="310" r:id="rId11"/>
    <p:sldId id="277" r:id="rId12"/>
    <p:sldId id="278" r:id="rId13"/>
    <p:sldId id="279" r:id="rId14"/>
    <p:sldId id="293" r:id="rId15"/>
    <p:sldId id="284" r:id="rId16"/>
    <p:sldId id="288" r:id="rId17"/>
    <p:sldId id="289" r:id="rId18"/>
    <p:sldId id="290" r:id="rId19"/>
    <p:sldId id="291" r:id="rId20"/>
    <p:sldId id="292" r:id="rId21"/>
    <p:sldId id="312" r:id="rId22"/>
    <p:sldId id="299" r:id="rId23"/>
    <p:sldId id="296" r:id="rId24"/>
    <p:sldId id="301" r:id="rId25"/>
    <p:sldId id="302" r:id="rId26"/>
    <p:sldId id="303" r:id="rId27"/>
    <p:sldId id="305" r:id="rId28"/>
    <p:sldId id="306" r:id="rId29"/>
    <p:sldId id="273" r:id="rId30"/>
    <p:sldId id="308" r:id="rId31"/>
    <p:sldId id="309"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p:scale>
          <a:sx n="70" d="100"/>
          <a:sy n="70" d="100"/>
        </p:scale>
        <p:origin x="1180" y="56"/>
      </p:cViewPr>
      <p:guideLst>
        <p:guide orient="horz" pos="2160"/>
        <p:guide pos="288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9" name="Group 8"/>
          <p:cNvGrpSpPr/>
          <p:nvPr/>
        </p:nvGrpSpPr>
        <p:grpSpPr>
          <a:xfrm>
            <a:off x="0" y="0"/>
            <a:ext cx="9144000" cy="6858000"/>
            <a:chOff x="0" y="0"/>
            <a:chExt cx="9144000" cy="6858000"/>
          </a:xfrm>
        </p:grpSpPr>
        <p:pic>
          <p:nvPicPr>
            <p:cNvPr id="7" name="Picture 6" descr="S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a:fillRect/>
            </a:stretch>
          </p:blipFill>
          <p:spPr>
            <a:xfrm rot="5400000">
              <a:off x="3739196" y="525780"/>
              <a:ext cx="1664208" cy="612648"/>
            </a:xfrm>
            <a:prstGeom prst="rect">
              <a:avLst/>
            </a:prstGeom>
          </p:spPr>
        </p:pic>
        <p:pic>
          <p:nvPicPr>
            <p:cNvPr id="14" name="Picture 13"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a:fillRect/>
            </a:stretch>
          </p:blipFill>
          <p:spPr>
            <a:xfrm rot="5400000">
              <a:off x="3739196" y="5719572"/>
              <a:ext cx="1664208" cy="612648"/>
            </a:xfrm>
            <a:prstGeom prst="rect">
              <a:avLst/>
            </a:prstGeom>
          </p:spPr>
        </p:pic>
      </p:grpSp>
      <p:sp>
        <p:nvSpPr>
          <p:cNvPr id="2" name="Title 1"/>
          <p:cNvSpPr>
            <a:spLocks noGrp="1"/>
          </p:cNvSpPr>
          <p:nvPr>
            <p:ph type="ctrTitle"/>
          </p:nvPr>
        </p:nvSpPr>
        <p:spPr>
          <a:xfrm>
            <a:off x="1921934" y="1811863"/>
            <a:ext cx="5308866" cy="1515533"/>
          </a:xfrm>
        </p:spPr>
        <p:txBody>
          <a:bodyPr anchor="b">
            <a:noAutofit/>
          </a:bodyPr>
          <a:lstStyle>
            <a:lvl1pPr algn="ct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921934" y="3598327"/>
            <a:ext cx="5308866"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6065417" y="5054602"/>
            <a:ext cx="673276" cy="279400"/>
          </a:xfrm>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a:xfrm>
            <a:off x="1921934" y="5054602"/>
            <a:ext cx="4064860" cy="279400"/>
          </a:xfrm>
        </p:spPr>
        <p:txBody>
          <a:bodyPr/>
          <a:lstStyle/>
          <a:p>
            <a:endParaRPr lang="en-US"/>
          </a:p>
        </p:txBody>
      </p:sp>
      <p:sp>
        <p:nvSpPr>
          <p:cNvPr id="6" name="Slide Number Placeholder 5"/>
          <p:cNvSpPr>
            <a:spLocks noGrp="1"/>
          </p:cNvSpPr>
          <p:nvPr>
            <p:ph type="sldNum" sz="quarter" idx="12"/>
          </p:nvPr>
        </p:nvSpPr>
        <p:spPr>
          <a:xfrm>
            <a:off x="6817317" y="5054602"/>
            <a:ext cx="413483" cy="279400"/>
          </a:xfrm>
        </p:spPr>
        <p:txBody>
          <a:bodyPr/>
          <a:lstStyle/>
          <a:p>
            <a:fld id="{C1FF6DA9-008F-8B48-92A6-B652298478BF}" type="slidenum">
              <a:rPr lang="en-US" smtClean="0"/>
            </a:fld>
            <a:endParaRPr lang="en-US"/>
          </a:p>
        </p:txBody>
      </p:sp>
      <p:cxnSp>
        <p:nvCxnSpPr>
          <p:cNvPr id="15" name="Straight Connector 14"/>
          <p:cNvCxnSpPr/>
          <p:nvPr/>
        </p:nvCxnSpPr>
        <p:spPr>
          <a:xfrm>
            <a:off x="2019825" y="3471329"/>
            <a:ext cx="5113083"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278466" y="2354670"/>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78465" y="1641413"/>
            <a:ext cx="6595534" cy="1822514"/>
          </a:xfrm>
        </p:spPr>
        <p:txBody>
          <a:bodyPr anchor="b">
            <a:normAutofit/>
          </a:bodyPr>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78465" y="3734859"/>
            <a:ext cx="6595534"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cxnSp>
        <p:nvCxnSpPr>
          <p:cNvPr id="31" name="Straight Connector 30"/>
          <p:cNvCxnSpPr/>
          <p:nvPr/>
        </p:nvCxnSpPr>
        <p:spPr>
          <a:xfrm>
            <a:off x="1278466" y="3599392"/>
            <a:ext cx="6595533"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278465" y="235626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176866" y="915337"/>
            <a:ext cx="6798734" cy="130386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76866" y="2487168"/>
            <a:ext cx="3337560" cy="3447288"/>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4645152" y="2487168"/>
            <a:ext cx="3337560" cy="3447288"/>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76868"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1176868" y="3243262"/>
            <a:ext cx="3337560" cy="2706624"/>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641832" y="2658533"/>
            <a:ext cx="333756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4641832" y="3243262"/>
            <a:ext cx="3337560" cy="2706624"/>
          </a:xfrm>
        </p:spPr>
        <p:txBody>
          <a:bodyP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cxnSp>
        <p:nvCxnSpPr>
          <p:cNvPr id="41" name="Straight Connector 40"/>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76865" y="915337"/>
            <a:ext cx="6798735" cy="1303867"/>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cxnSp>
        <p:nvCxnSpPr>
          <p:cNvPr id="14" name="Straight Connector 13"/>
          <p:cNvCxnSpPr/>
          <p:nvPr/>
        </p:nvCxnSpPr>
        <p:spPr>
          <a:xfrm>
            <a:off x="1278466" y="235467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388534"/>
            <a:ext cx="2536798"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120062" y="982132"/>
            <a:ext cx="3855539" cy="4893735"/>
          </a:xfrm>
        </p:spPr>
        <p:txBody>
          <a:bodyPr anchor="ctr">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1176865" y="3031065"/>
            <a:ext cx="2536798"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cxnSp>
        <p:nvCxnSpPr>
          <p:cNvPr id="16" name="Straight Connector 15"/>
          <p:cNvCxnSpPr/>
          <p:nvPr/>
        </p:nvCxnSpPr>
        <p:spPr>
          <a:xfrm>
            <a:off x="1278466" y="2912533"/>
            <a:ext cx="233359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5" y="1883832"/>
            <a:ext cx="3632202" cy="1371600"/>
          </a:xfrm>
        </p:spPr>
        <p:txBody>
          <a:bodyPr anchor="b">
            <a:normAutofit/>
          </a:bodyPr>
          <a:lstStyle>
            <a:lvl1pPr algn="ctr">
              <a:defRPr sz="24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5183070" y="1032933"/>
            <a:ext cx="2929463"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5" y="3255432"/>
            <a:ext cx="3632201"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4815415"/>
            <a:ext cx="6798734"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26260" y="1032933"/>
            <a:ext cx="7091482"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76866" y="5382153"/>
            <a:ext cx="6798734"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76866" y="906873"/>
            <a:ext cx="6798734" cy="309786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5" y="4275666"/>
            <a:ext cx="6798736"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cxnSp>
        <p:nvCxnSpPr>
          <p:cNvPr id="15" name="Straight Connector 14"/>
          <p:cNvCxnSpPr/>
          <p:nvPr/>
        </p:nvCxnSpPr>
        <p:spPr>
          <a:xfrm>
            <a:off x="1278465" y="4140199"/>
            <a:ext cx="6606425"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34333" y="982132"/>
            <a:ext cx="6400250"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00200" y="3352799"/>
            <a:ext cx="5892798"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endParaRPr lang="en-US" smtClean="0"/>
          </a:p>
        </p:txBody>
      </p:sp>
      <p:sp>
        <p:nvSpPr>
          <p:cNvPr id="3" name="Text Placeholder 2"/>
          <p:cNvSpPr>
            <a:spLocks noGrp="1"/>
          </p:cNvSpPr>
          <p:nvPr>
            <p:ph type="body" idx="1"/>
          </p:nvPr>
        </p:nvSpPr>
        <p:spPr>
          <a:xfrm>
            <a:off x="1176863" y="4343400"/>
            <a:ext cx="6798738"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
        <p:nvSpPr>
          <p:cNvPr id="14" name="TextBox 13"/>
          <p:cNvSpPr txBox="1"/>
          <p:nvPr/>
        </p:nvSpPr>
        <p:spPr>
          <a:xfrm>
            <a:off x="849969" y="905362"/>
            <a:ext cx="45731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endParaRPr lang="en-US" sz="7200" dirty="0">
              <a:solidFill>
                <a:schemeClr val="tx1"/>
              </a:solidFill>
              <a:effectLst/>
            </a:endParaRPr>
          </a:p>
        </p:txBody>
      </p:sp>
      <p:sp>
        <p:nvSpPr>
          <p:cNvPr id="15" name="TextBox 14"/>
          <p:cNvSpPr txBox="1"/>
          <p:nvPr/>
        </p:nvSpPr>
        <p:spPr>
          <a:xfrm>
            <a:off x="7633503" y="2827870"/>
            <a:ext cx="45731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endParaRPr lang="en-US" sz="7200" dirty="0">
              <a:solidFill>
                <a:schemeClr val="tx1"/>
              </a:solidFill>
              <a:effectLst/>
            </a:endParaRPr>
          </a:p>
        </p:txBody>
      </p:sp>
      <p:cxnSp>
        <p:nvCxnSpPr>
          <p:cNvPr id="19" name="Straight Connector 18"/>
          <p:cNvCxnSpPr/>
          <p:nvPr/>
        </p:nvCxnSpPr>
        <p:spPr>
          <a:xfrm>
            <a:off x="1278466" y="4140199"/>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76869" y="3308581"/>
            <a:ext cx="679872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76868" y="4777381"/>
            <a:ext cx="6798730"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09416" y="982132"/>
            <a:ext cx="632516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6" name="Text Placeholder 2"/>
          <p:cNvSpPr>
            <a:spLocks noGrp="1"/>
          </p:cNvSpPr>
          <p:nvPr>
            <p:ph type="body" idx="13"/>
          </p:nvPr>
        </p:nvSpPr>
        <p:spPr>
          <a:xfrm>
            <a:off x="1176868" y="3639312"/>
            <a:ext cx="6798730"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3" name="Text Placeholder 2"/>
          <p:cNvSpPr>
            <a:spLocks noGrp="1"/>
          </p:cNvSpPr>
          <p:nvPr>
            <p:ph type="body" idx="1"/>
          </p:nvPr>
        </p:nvSpPr>
        <p:spPr>
          <a:xfrm>
            <a:off x="1176865" y="4529667"/>
            <a:ext cx="6798736"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
        <p:nvSpPr>
          <p:cNvPr id="12" name="TextBox 11"/>
          <p:cNvSpPr txBox="1"/>
          <p:nvPr/>
        </p:nvSpPr>
        <p:spPr>
          <a:xfrm>
            <a:off x="878060" y="896895"/>
            <a:ext cx="45731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endParaRPr lang="en-US" sz="8000" dirty="0">
              <a:solidFill>
                <a:schemeClr val="tx1"/>
              </a:solidFill>
              <a:effectLst/>
            </a:endParaRPr>
          </a:p>
        </p:txBody>
      </p:sp>
      <p:sp>
        <p:nvSpPr>
          <p:cNvPr id="13" name="TextBox 12"/>
          <p:cNvSpPr txBox="1"/>
          <p:nvPr/>
        </p:nvSpPr>
        <p:spPr>
          <a:xfrm>
            <a:off x="7649796" y="2607728"/>
            <a:ext cx="45731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endParaRPr lang="en-US" sz="8000" dirty="0">
              <a:solidFill>
                <a:schemeClr val="tx1"/>
              </a:solidFill>
              <a:effectLst/>
            </a:endParaRPr>
          </a:p>
        </p:txBody>
      </p:sp>
      <p:cxnSp>
        <p:nvCxnSpPr>
          <p:cNvPr id="26" name="Straight Connector 25"/>
          <p:cNvCxnSpPr/>
          <p:nvPr/>
        </p:nvCxnSpPr>
        <p:spPr>
          <a:xfrm>
            <a:off x="1278466" y="3429000"/>
            <a:ext cx="659553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76865" y="982131"/>
            <a:ext cx="6798734" cy="2294467"/>
          </a:xfrm>
        </p:spPr>
        <p:txBody>
          <a:bodyPr vert="horz" lIns="91440" tIns="45720" rIns="91440" bIns="45720" rtlCol="0" anchor="ctr">
            <a:normAutofit/>
          </a:bodyPr>
          <a:lstStyle>
            <a:lvl1pPr>
              <a:defRPr lang="en-US" sz="3200" b="0" dirty="0"/>
            </a:lvl1pPr>
          </a:lstStyle>
          <a:p>
            <a:pPr marL="0" lvl="0"/>
            <a:r>
              <a:rPr lang="en-US" smtClean="0"/>
              <a:t>Click to edit Master title style</a:t>
            </a:r>
            <a:endParaRPr lang="en-US" dirty="0"/>
          </a:p>
        </p:txBody>
      </p:sp>
      <p:sp>
        <p:nvSpPr>
          <p:cNvPr id="17" name="Text Placeholder 2"/>
          <p:cNvSpPr>
            <a:spLocks noGrp="1"/>
          </p:cNvSpPr>
          <p:nvPr>
            <p:ph type="body" idx="13"/>
          </p:nvPr>
        </p:nvSpPr>
        <p:spPr>
          <a:xfrm>
            <a:off x="1176868" y="3566160"/>
            <a:ext cx="6798730"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3" name="Text Placeholder 2"/>
          <p:cNvSpPr>
            <a:spLocks noGrp="1"/>
          </p:cNvSpPr>
          <p:nvPr>
            <p:ph type="body" idx="1"/>
          </p:nvPr>
        </p:nvSpPr>
        <p:spPr>
          <a:xfrm>
            <a:off x="1176866" y="4470400"/>
            <a:ext cx="6798734"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cxnSp>
        <p:nvCxnSpPr>
          <p:cNvPr id="15" name="Straight Connector 14"/>
          <p:cNvCxnSpPr/>
          <p:nvPr/>
        </p:nvCxnSpPr>
        <p:spPr>
          <a:xfrm>
            <a:off x="1278469" y="3429000"/>
            <a:ext cx="6606421"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5" y="2490135"/>
            <a:ext cx="6798736" cy="3385733"/>
          </a:xfrm>
        </p:spPr>
        <p:txBody>
          <a:bodyPr vert="eaVert" ancho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cxnSp>
        <p:nvCxnSpPr>
          <p:cNvPr id="14" name="Straight Connector 13"/>
          <p:cNvCxnSpPr/>
          <p:nvPr/>
        </p:nvCxnSpPr>
        <p:spPr>
          <a:xfrm>
            <a:off x="1278466" y="2354670"/>
            <a:ext cx="6606424"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56667" y="906873"/>
            <a:ext cx="1618930" cy="496899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76867" y="906873"/>
            <a:ext cx="4915509" cy="4968993"/>
          </a:xfrm>
        </p:spPr>
        <p:txBody>
          <a:bodyPr vert="eaVert" ancho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cxnSp>
        <p:nvCxnSpPr>
          <p:cNvPr id="14" name="Straight Connector 13"/>
          <p:cNvCxnSpPr/>
          <p:nvPr/>
        </p:nvCxnSpPr>
        <p:spPr>
          <a:xfrm>
            <a:off x="6245512" y="906873"/>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1" Type="http://schemas.openxmlformats.org/officeDocument/2006/relationships/theme" Target="../theme/theme1.xml"/><Relationship Id="rId20" Type="http://schemas.openxmlformats.org/officeDocument/2006/relationships/image" Target="../media/image4.png"/><Relationship Id="rId2" Type="http://schemas.openxmlformats.org/officeDocument/2006/relationships/slideLayout" Target="../slideLayouts/slideLayout2.xml"/><Relationship Id="rId19" Type="http://schemas.openxmlformats.org/officeDocument/2006/relationships/image" Target="../media/image3.png"/><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9144000" cy="6858001"/>
            <a:chOff x="0" y="0"/>
            <a:chExt cx="9144000" cy="6858001"/>
          </a:xfrm>
        </p:grpSpPr>
        <p:pic>
          <p:nvPicPr>
            <p:cNvPr id="8" name="Picture 7" descr="S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a:fillRect/>
            </a:stretch>
          </p:blipFill>
          <p:spPr>
            <a:xfrm rot="5400000">
              <a:off x="4221675" y="39689"/>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a:fillRect/>
            </a:stretch>
          </p:blipFill>
          <p:spPr>
            <a:xfrm rot="5400000">
              <a:off x="4221675" y="6211888"/>
              <a:ext cx="685800" cy="606425"/>
            </a:xfrm>
            <a:prstGeom prst="rect">
              <a:avLst/>
            </a:prstGeom>
          </p:spPr>
        </p:pic>
      </p:grpSp>
      <p:sp>
        <p:nvSpPr>
          <p:cNvPr id="2" name="Title Placeholder 1"/>
          <p:cNvSpPr>
            <a:spLocks noGrp="1"/>
          </p:cNvSpPr>
          <p:nvPr>
            <p:ph type="title"/>
          </p:nvPr>
        </p:nvSpPr>
        <p:spPr>
          <a:xfrm>
            <a:off x="1176866" y="915337"/>
            <a:ext cx="6798734"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176865" y="2490135"/>
            <a:ext cx="6798736" cy="3444997"/>
          </a:xfrm>
          <a:prstGeom prst="rect">
            <a:avLst/>
          </a:prstGeom>
        </p:spPr>
        <p:txBody>
          <a:bodyPr vert="horz" lIns="91440" tIns="45720" rIns="91440" bIns="45720" rtlCol="0" anchor="t">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6356670" y="5960533"/>
            <a:ext cx="1148283"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1176865" y="5960533"/>
            <a:ext cx="5104667"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7580091" y="5960533"/>
            <a:ext cx="39551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3.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a:xfrm>
            <a:off x="1922145" y="1811655"/>
            <a:ext cx="5308600" cy="1351280"/>
          </a:xfrm>
        </p:spPr>
        <p:txBody>
          <a:bodyPr/>
          <a:p>
            <a:r>
              <a:rPr lang="en-US" sz="2400"/>
              <a:t>THE NEW GOLDEN AGE : DISRUPTING THE STUDIO SYSTEM THROUGH DATA DRIVEN PRDUCTION</a:t>
            </a:r>
            <a:endParaRPr lang="en-US" sz="2400"/>
          </a:p>
        </p:txBody>
      </p:sp>
      <p:sp>
        <p:nvSpPr>
          <p:cNvPr id="5" name="Subtitle 4"/>
          <p:cNvSpPr>
            <a:spLocks noGrp="1"/>
          </p:cNvSpPr>
          <p:nvPr>
            <p:ph type="subTitle" idx="1"/>
          </p:nvPr>
        </p:nvSpPr>
        <p:spPr>
          <a:xfrm>
            <a:off x="1922145" y="3429635"/>
            <a:ext cx="5308600" cy="1546860"/>
          </a:xfrm>
        </p:spPr>
        <p:txBody>
          <a:bodyPr>
            <a:noAutofit/>
          </a:bodyPr>
          <a:p>
            <a:r>
              <a:rPr lang="en-US" altLang="en-US" sz="1500"/>
              <a:t> Abel Aleu Chol Garang</a:t>
            </a:r>
            <a:endParaRPr lang="en-US" altLang="en-US" sz="1500"/>
          </a:p>
          <a:p>
            <a:r>
              <a:rPr lang="en-US" altLang="en-US" sz="1500"/>
              <a:t>Carolyne Githenduka</a:t>
            </a:r>
            <a:endParaRPr lang="en-US" altLang="en-US" sz="1500"/>
          </a:p>
          <a:p>
            <a:r>
              <a:rPr lang="en-US" altLang="en-US" sz="1500"/>
              <a:t>Collins Wambu</a:t>
            </a:r>
            <a:endParaRPr lang="en-US" altLang="en-US" sz="1500"/>
          </a:p>
          <a:p>
            <a:r>
              <a:rPr lang="en-US" altLang="en-US" sz="1500"/>
              <a:t>Bobbin Bodo</a:t>
            </a:r>
            <a:endParaRPr lang="en-US" altLang="en-US" sz="1500"/>
          </a:p>
          <a:p>
            <a:r>
              <a:rPr lang="en-US" altLang="en-US" sz="1500"/>
              <a:t>Yvonnie Muthoni</a:t>
            </a:r>
            <a:endParaRPr lang="en-US" altLang="en-US" sz="15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Business Objective</a:t>
            </a:r>
          </a:p>
        </p:txBody>
      </p:sp>
      <p:sp>
        <p:nvSpPr>
          <p:cNvPr id="3" name="Content Placeholder 2"/>
          <p:cNvSpPr>
            <a:spLocks noGrp="1"/>
          </p:cNvSpPr>
          <p:nvPr>
            <p:ph idx="1"/>
          </p:nvPr>
        </p:nvSpPr>
        <p:spPr/>
        <p:txBody>
          <a:bodyPr/>
          <a:lstStyle/>
          <a:p>
            <a:r>
              <a:rPr lang="en-US" altLang="en-US" sz="2000"/>
              <a:t>-Identify what film genres perform best</a:t>
            </a:r>
            <a:endParaRPr lang="en-US" altLang="en-US" sz="2000"/>
          </a:p>
          <a:p>
            <a:r>
              <a:rPr lang="en-US" altLang="en-US" sz="2000"/>
              <a:t>-Identify films with high ROIs</a:t>
            </a:r>
            <a:endParaRPr lang="en-US" altLang="en-US" sz="2000"/>
          </a:p>
          <a:p>
            <a:r>
              <a:rPr lang="en-US" altLang="en-US" sz="2000"/>
              <a:t>-Movie trends analysis</a:t>
            </a:r>
            <a:endParaRPr lang="en-US" altLang="en-US" sz="2000"/>
          </a:p>
          <a:p>
            <a:r>
              <a:rPr lang="en-US" altLang="en-US" sz="2000"/>
              <a:t>-Movie performance based on release dates</a:t>
            </a:r>
            <a:endParaRPr lang="en-US" altLang="en-US" sz="2000"/>
          </a:p>
          <a:p>
            <a:r>
              <a:rPr lang="en-US" altLang="en-US" sz="2000"/>
              <a:t>-Movie perfonce based on market selection i.e Domestic vs Foreign</a:t>
            </a:r>
            <a:endParaRPr lang="en-US" altLang="en-US" sz="2000"/>
          </a:p>
          <a:p>
            <a:r>
              <a:rPr lang="en-US" altLang="en-US" sz="2000"/>
              <a:t>-Movie ratings performance </a:t>
            </a:r>
            <a:endParaRPr lang="en-US" altLang="en-US"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Overview</a:t>
            </a:r>
          </a:p>
        </p:txBody>
      </p:sp>
      <p:sp>
        <p:nvSpPr>
          <p:cNvPr id="3" name="Content Placeholder 2"/>
          <p:cNvSpPr>
            <a:spLocks noGrp="1"/>
          </p:cNvSpPr>
          <p:nvPr>
            <p:ph idx="1"/>
          </p:nvPr>
        </p:nvSpPr>
        <p:spPr/>
        <p:txBody>
          <a:bodyPr/>
          <a:lstStyle/>
          <a:p>
            <a:r>
              <a:rPr lang="en-US" altLang="en-US" sz="2000" b="1" dirty="0"/>
              <a:t>The MovieDB</a:t>
            </a:r>
            <a:endParaRPr lang="en-US" altLang="en-US" sz="2000" b="1" dirty="0"/>
          </a:p>
          <a:p>
            <a:r>
              <a:rPr lang="en-US" altLang="en-US" sz="2000" b="1" dirty="0"/>
              <a:t>The Numbers</a:t>
            </a:r>
            <a:endParaRPr lang="en-US" altLang="en-US" sz="2000" b="1" dirty="0"/>
          </a:p>
          <a:p>
            <a:r>
              <a:rPr lang="en-US" altLang="en-US" sz="2000" b="1" dirty="0"/>
              <a:t>IMDB SQLite Database</a:t>
            </a:r>
            <a:endParaRPr lang="en-US" altLang="en-US" sz="2000" b="1" dirty="0"/>
          </a:p>
          <a:p>
            <a:r>
              <a:rPr lang="en-US" altLang="en-US" sz="2000" b="1" dirty="0"/>
              <a:t>Box office Mojo (CSV) file</a:t>
            </a:r>
            <a:endParaRPr lang="en-US" altLang="en-US" sz="2000" b="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Preparation</a:t>
            </a:r>
          </a:p>
        </p:txBody>
      </p:sp>
      <p:sp>
        <p:nvSpPr>
          <p:cNvPr id="3" name="Content Placeholder 2"/>
          <p:cNvSpPr>
            <a:spLocks noGrp="1"/>
          </p:cNvSpPr>
          <p:nvPr>
            <p:ph idx="1"/>
          </p:nvPr>
        </p:nvSpPr>
        <p:spPr/>
        <p:txBody>
          <a:bodyPr/>
          <a:lstStyle/>
          <a:p>
            <a:r>
              <a:rPr lang="en-US" altLang="en-US" sz="2000" dirty="0"/>
              <a:t>Dropped columns not relevant for our analysis</a:t>
            </a:r>
            <a:endParaRPr lang="en-US" altLang="en-US" sz="2000" dirty="0"/>
          </a:p>
          <a:p>
            <a:r>
              <a:rPr lang="en-US" altLang="en-US" sz="2000" dirty="0"/>
              <a:t>Removed duplicates</a:t>
            </a:r>
            <a:endParaRPr lang="en-US" altLang="en-US" sz="2000" dirty="0"/>
          </a:p>
          <a:p>
            <a:r>
              <a:rPr lang="en-US" altLang="en-US" sz="2000" dirty="0"/>
              <a:t>Converting expenditure and revenue columns to numeric values</a:t>
            </a:r>
            <a:endParaRPr lang="en-US" altLang="en-US" sz="2000" dirty="0"/>
          </a:p>
          <a:p>
            <a:r>
              <a:rPr lang="en-US" altLang="en-US" sz="2000" dirty="0"/>
              <a:t>Handled missing values in critical columns </a:t>
            </a:r>
            <a:endParaRPr lang="en-US" altLang="en-US" sz="2000" dirty="0"/>
          </a:p>
          <a:p>
            <a:r>
              <a:rPr lang="en-US" altLang="en-US" sz="2000" dirty="0"/>
              <a:t>Standardization</a:t>
            </a:r>
            <a:endParaRPr lang="en-US" altLang="en-US" sz="2000" dirty="0"/>
          </a:p>
          <a:p>
            <a:r>
              <a:rPr lang="en-US" altLang="en-US" sz="2000" dirty="0"/>
              <a:t>Merging datasets for analysis</a:t>
            </a:r>
            <a:endParaRPr lang="en-US" alt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655" y="751205"/>
            <a:ext cx="6798945" cy="1235710"/>
          </a:xfrm>
        </p:spPr>
        <p:txBody>
          <a:bodyPr>
            <a:normAutofit fontScale="90000"/>
          </a:bodyPr>
          <a:lstStyle/>
          <a:p>
            <a:r>
              <a:rPr lang="en-US" altLang="en-US" dirty="0">
                <a:sym typeface="+mn-ea"/>
              </a:rPr>
              <a:t>EXPLORATORY DATA ANALYSIS</a:t>
            </a:r>
            <a:endParaRPr lang="en-US" altLang="en-US" dirty="0">
              <a:sym typeface="+mn-ea"/>
            </a:endParaRPr>
          </a:p>
        </p:txBody>
      </p:sp>
      <p:sp>
        <p:nvSpPr>
          <p:cNvPr id="3" name="Content Placeholder 2"/>
          <p:cNvSpPr>
            <a:spLocks noGrp="1"/>
          </p:cNvSpPr>
          <p:nvPr>
            <p:ph idx="1"/>
          </p:nvPr>
        </p:nvSpPr>
        <p:spPr>
          <a:xfrm>
            <a:off x="1176655" y="2366645"/>
            <a:ext cx="6798945" cy="3568065"/>
          </a:xfrm>
        </p:spPr>
        <p:txBody>
          <a:bodyPr>
            <a:noAutofit/>
          </a:bodyPr>
          <a:lstStyle/>
          <a:p>
            <a:pPr marL="0" indent="0">
              <a:buNone/>
            </a:pPr>
            <a:r>
              <a:rPr lang="en-US" altLang="en-US" sz="2000" b="1" u="sng" dirty="0">
                <a:sym typeface="+mn-ea"/>
              </a:rPr>
              <a:t>Feature Engineering: Profit and ROI</a:t>
            </a:r>
            <a:endParaRPr lang="en-US" altLang="en-US" sz="2000" b="1" u="sng" dirty="0"/>
          </a:p>
          <a:p>
            <a:r>
              <a:rPr lang="en-US" altLang="en-US" sz="2000" dirty="0"/>
              <a:t>Profit and ROI were engineered to support business-focused analysis, where profit is calculated as worldwide gross minus production budget, and ROI measures returns relative to the budget.</a:t>
            </a:r>
            <a:endParaRPr lang="en-US" altLang="en-US" sz="2000" dirty="0"/>
          </a:p>
          <a:p>
            <a:pPr marL="0" indent="0">
              <a:buNone/>
            </a:pPr>
            <a:r>
              <a:rPr lang="en-US" altLang="en-US" sz="2000" b="1" u="sng" dirty="0"/>
              <a:t>IMDb Ratings Filtering (Quality Control)</a:t>
            </a:r>
            <a:endParaRPr lang="en-US" altLang="en-US" sz="2000" b="1" u="sng" dirty="0"/>
          </a:p>
          <a:p>
            <a:r>
              <a:rPr lang="en-US" altLang="en-US" sz="2000" dirty="0"/>
              <a:t>IMDb ratings can be unreliable with low vote counts, so only movies with at least 1,000 votes were retained to ensure more credible and stable ratings</a:t>
            </a:r>
            <a:r>
              <a:rPr lang="en-US" altLang="en-US" sz="2000" u="sng" dirty="0"/>
              <a:t>.</a:t>
            </a:r>
            <a:endParaRPr lang="en-US" altLang="en-US" sz="2000" u="sng" dirty="0"/>
          </a:p>
          <a:p>
            <a:endParaRPr lang="en-US" altLang="en-US" sz="2000" u="sng"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6655" y="709930"/>
            <a:ext cx="6798945" cy="1222375"/>
          </a:xfrm>
        </p:spPr>
        <p:txBody>
          <a:bodyPr>
            <a:normAutofit fontScale="90000"/>
          </a:bodyPr>
          <a:lstStyle/>
          <a:p>
            <a:r>
              <a:rPr lang="en-US" altLang="en-US"/>
              <a:t>EXPLORATORY DATA ANALYSIS</a:t>
            </a:r>
            <a:endParaRPr lang="en-US" altLang="en-US"/>
          </a:p>
        </p:txBody>
      </p:sp>
      <p:sp>
        <p:nvSpPr>
          <p:cNvPr id="3" name="Content Placeholder 2"/>
          <p:cNvSpPr>
            <a:spLocks noGrp="1"/>
          </p:cNvSpPr>
          <p:nvPr>
            <p:ph idx="1"/>
          </p:nvPr>
        </p:nvSpPr>
        <p:spPr>
          <a:xfrm>
            <a:off x="1176655" y="2286000"/>
            <a:ext cx="6798945" cy="3785870"/>
          </a:xfrm>
        </p:spPr>
        <p:txBody>
          <a:bodyPr>
            <a:noAutofit/>
          </a:bodyPr>
          <a:lstStyle/>
          <a:p>
            <a:pPr marL="0" indent="0">
              <a:buNone/>
            </a:pPr>
            <a:r>
              <a:rPr lang="en-US" altLang="en-US" sz="2000" b="1" u="sng" dirty="0"/>
              <a:t>Resolving Duplicate Titles in IMDb</a:t>
            </a:r>
            <a:endParaRPr lang="en-US" altLang="en-US" sz="2000" dirty="0"/>
          </a:p>
          <a:p>
            <a:r>
              <a:rPr lang="en-US" altLang="en-US" sz="2000" dirty="0"/>
              <a:t>IMDb includes multiple entries with the same title but different IDs. To avoid duplication, only the most popular version of each title was retained, defined by the highest number of votes.</a:t>
            </a:r>
            <a:endParaRPr lang="en-US" altLang="en-US" sz="2000" dirty="0"/>
          </a:p>
          <a:p>
            <a:pPr marL="0" indent="0">
              <a:buNone/>
            </a:pPr>
            <a:r>
              <a:rPr lang="en-US" altLang="en-US" sz="2000" b="1" u="sng" dirty="0"/>
              <a:t>Normalizing Genres (One Genre per Row)</a:t>
            </a:r>
            <a:endParaRPr lang="en-US" altLang="en-US" sz="2000" dirty="0"/>
          </a:p>
          <a:p>
            <a:r>
              <a:rPr lang="en-US" altLang="en-US" sz="2000" dirty="0"/>
              <a:t>The code converts multi-genre movie entries into a normalized, one-genre-per-row format so that each genre can be analyzed independently. This enables accurate genre-level comparisons of rating</a:t>
            </a:r>
            <a:endParaRPr lang="en-US" alt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lang="en-US" altLang="en-US"/>
              <a:t>EXPLORATORY DATA ANALYSIS</a:t>
            </a:r>
            <a:endParaRPr lang="en-US" altLang="en-US"/>
          </a:p>
        </p:txBody>
      </p:sp>
      <p:sp>
        <p:nvSpPr>
          <p:cNvPr id="5" name="Content Placeholder 4"/>
          <p:cNvSpPr>
            <a:spLocks noGrp="1"/>
          </p:cNvSpPr>
          <p:nvPr>
            <p:ph idx="1"/>
          </p:nvPr>
        </p:nvSpPr>
        <p:spPr/>
        <p:txBody>
          <a:bodyPr>
            <a:normAutofit lnSpcReduction="10000"/>
          </a:bodyPr>
          <a:p>
            <a:pPr marL="0" indent="0">
              <a:buNone/>
            </a:pPr>
            <a:r>
              <a:rPr lang="en-US" altLang="en-US" sz="2000" b="1" u="sng"/>
              <a:t>Title Alignment for Merging</a:t>
            </a:r>
            <a:endParaRPr lang="en-US" altLang="en-US" sz="2000"/>
          </a:p>
          <a:p>
            <a:r>
              <a:rPr lang="en-US" altLang="en-US" sz="2000"/>
              <a:t>To ensure accurate merging across datasets, movie title columns </a:t>
            </a:r>
            <a:r>
              <a:rPr lang="en-US" altLang="en-US" sz="2000"/>
              <a:t>were standardized by using consistent naming, applying Title Case, and removing extra white space.</a:t>
            </a:r>
            <a:endParaRPr lang="en-US" altLang="en-US" sz="2000"/>
          </a:p>
          <a:p>
            <a:pPr marL="0" indent="0">
              <a:buNone/>
            </a:pPr>
            <a:endParaRPr lang="en-US" altLang="en-US" sz="2000"/>
          </a:p>
          <a:p>
            <a:pPr marL="0" indent="0">
              <a:buNone/>
            </a:pPr>
            <a:r>
              <a:rPr lang="en-US" altLang="en-US" sz="2000" b="1" u="sng"/>
              <a:t>Creating Merge-Ready Tables</a:t>
            </a:r>
            <a:endParaRPr lang="en-US" altLang="en-US" sz="2000"/>
          </a:p>
          <a:p>
            <a:r>
              <a:rPr lang="en-US" altLang="en-US" sz="2000"/>
              <a:t>Multiple movie datasets were combined into a single, clean table for analysis by merging Box Office Mojo, The Numbers, IMDb, and TMDB step by step.</a:t>
            </a:r>
            <a:endParaRPr lang="en-US" altLang="en-US" sz="2000"/>
          </a:p>
          <a:p>
            <a:endParaRPr lang="en-US" altLang="en-US"/>
          </a:p>
          <a:p>
            <a:endParaRPr lang="en-US"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lang="en-US" altLang="en-US">
                <a:sym typeface="+mn-ea"/>
              </a:rPr>
              <a:t>EXPLORATORY DATA ANALYSIS</a:t>
            </a:r>
            <a:endParaRPr lang="en-US"/>
          </a:p>
        </p:txBody>
      </p:sp>
      <p:sp>
        <p:nvSpPr>
          <p:cNvPr id="5" name="Content Placeholder 4"/>
          <p:cNvSpPr>
            <a:spLocks noGrp="1"/>
          </p:cNvSpPr>
          <p:nvPr>
            <p:ph idx="1"/>
          </p:nvPr>
        </p:nvSpPr>
        <p:spPr/>
        <p:txBody>
          <a:bodyPr>
            <a:noAutofit/>
          </a:bodyPr>
          <a:p>
            <a:pPr marL="0" indent="0">
              <a:buNone/>
            </a:pPr>
            <a:r>
              <a:rPr lang="en-US" altLang="en-US" sz="2000" b="1" u="sng"/>
              <a:t>Box Office + Budget Data</a:t>
            </a:r>
            <a:endParaRPr lang="en-US" altLang="en-US" sz="2000"/>
          </a:p>
          <a:p>
            <a:r>
              <a:rPr lang="en-US" altLang="en-US" sz="2000"/>
              <a:t>Box Office Mojo revenue data (bom) was merged with production budgets from The Numbers (tn) using the title_clean column. An inner join was applied so that only movies present in both datasets were retained.</a:t>
            </a:r>
            <a:endParaRPr lang="en-US" altLang="en-US" sz="2000"/>
          </a:p>
          <a:p>
            <a:pPr marL="0" indent="0">
              <a:buNone/>
            </a:pPr>
            <a:r>
              <a:rPr lang="en-US" altLang="en-US" sz="2000" b="1" u="sng"/>
              <a:t>Add IMDB Ratings</a:t>
            </a:r>
            <a:endParaRPr lang="en-US" altLang="en-US" sz="2000"/>
          </a:p>
          <a:p>
            <a:r>
              <a:rPr lang="en-US" altLang="en-US" sz="2000"/>
              <a:t>Next, IMDb ratings and vote counts were added by merging with the IMDb dataset using title_clean as the key. An inner join was applied to retain only movies that have both financial data and ratings.</a:t>
            </a:r>
            <a:endParaRPr lang="en-US" altLang="en-US" sz="2000"/>
          </a:p>
          <a:p>
            <a:endParaRPr lang="en-US" altLang="en-US" sz="2000" b="1" u="sng"/>
          </a:p>
          <a:p>
            <a:pPr marL="0" indent="0">
              <a:buNone/>
            </a:pPr>
            <a:endParaRPr lang="en-US" altLang="en-US" sz="2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lang="en-US" altLang="en-US">
                <a:sym typeface="+mn-ea"/>
              </a:rPr>
              <a:t>EXPLORATORY DATA ANALYSIS</a:t>
            </a:r>
            <a:endParaRPr lang="en-US"/>
          </a:p>
        </p:txBody>
      </p:sp>
      <p:sp>
        <p:nvSpPr>
          <p:cNvPr id="5" name="Text Placeholder 4"/>
          <p:cNvSpPr>
            <a:spLocks noGrp="1"/>
          </p:cNvSpPr>
          <p:nvPr>
            <p:ph type="body" idx="1"/>
          </p:nvPr>
        </p:nvSpPr>
        <p:spPr/>
        <p:txBody>
          <a:bodyPr/>
          <a:p>
            <a:pPr marL="0" indent="0">
              <a:buNone/>
            </a:pPr>
            <a:r>
              <a:rPr lang="en-US" altLang="en-US" b="1" u="sng">
                <a:sym typeface="+mn-ea"/>
              </a:rPr>
              <a:t>Merge TMDB Metadata</a:t>
            </a:r>
            <a:endParaRPr lang="en-US" altLang="en-US"/>
          </a:p>
          <a:p>
            <a:r>
              <a:rPr lang="en-US" altLang="en-US">
                <a:sym typeface="+mn-ea"/>
              </a:rPr>
              <a:t>TMDB metadata, including genres, runtime, and popularity, was added by performing a left join with movies_with_ratings. This ensures all movies with financial and IMDb data are retained, even if some TMDB information is missing.</a:t>
            </a:r>
            <a:endParaRPr lang="en-US" altLang="en-US"/>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lang="en-US" altLang="en-US">
                <a:sym typeface="+mn-ea"/>
              </a:rPr>
              <a:t>EXPLORATORY DATA ANALYSIS</a:t>
            </a:r>
            <a:endParaRPr lang="en-US"/>
          </a:p>
        </p:txBody>
      </p:sp>
      <p:sp>
        <p:nvSpPr>
          <p:cNvPr id="5" name="Content Placeholder 4"/>
          <p:cNvSpPr>
            <a:spLocks noGrp="1"/>
          </p:cNvSpPr>
          <p:nvPr>
            <p:ph idx="1"/>
          </p:nvPr>
        </p:nvSpPr>
        <p:spPr/>
        <p:txBody>
          <a:bodyPr>
            <a:noAutofit/>
          </a:bodyPr>
          <a:p>
            <a:pPr marL="0" indent="0">
              <a:buNone/>
            </a:pPr>
            <a:r>
              <a:rPr lang="en-US" altLang="en-US" sz="1900" b="1" u="sng"/>
              <a:t>Resolving Inconsistent Year Columns into a Single Release Year after merging tables</a:t>
            </a:r>
            <a:endParaRPr lang="en-US" altLang="en-US" sz="1900"/>
          </a:p>
          <a:p>
            <a:r>
              <a:rPr lang="en-US" altLang="en-US" sz="1900"/>
              <a:t>To ensure a consistent and reliable release year for each movie, multiple year sources were cleaned and consolidated. The original year and start_year columns were first converted to numeric values, coercing invalid entries to missing values. A new year column (tn_year) was then extracted from the release_date field using datetime conversion. A unified release_year column was created by prioritizing the most reliable source (tn_year), with fallback to start_year and then year where necessary. After verification, the redundant year columns were removed, leaving a single clean release_year variable for analysis and visualization.</a:t>
            </a:r>
            <a:endParaRPr lang="en-US" altLang="en-US" sz="1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176655" y="723900"/>
            <a:ext cx="6798945" cy="1222375"/>
          </a:xfrm>
        </p:spPr>
        <p:txBody>
          <a:bodyPr>
            <a:normAutofit fontScale="90000"/>
          </a:bodyPr>
          <a:p>
            <a:r>
              <a:rPr lang="en-US" altLang="en-US">
                <a:sym typeface="+mn-ea"/>
              </a:rPr>
              <a:t>Key Preliminary Insights (Pre-EDA)</a:t>
            </a:r>
            <a:endParaRPr lang="en-US"/>
          </a:p>
        </p:txBody>
      </p:sp>
      <p:sp>
        <p:nvSpPr>
          <p:cNvPr id="5" name="Content Placeholder 4"/>
          <p:cNvSpPr>
            <a:spLocks noGrp="1"/>
          </p:cNvSpPr>
          <p:nvPr>
            <p:ph idx="1"/>
          </p:nvPr>
        </p:nvSpPr>
        <p:spPr>
          <a:xfrm>
            <a:off x="1176655" y="1945640"/>
            <a:ext cx="6798945" cy="3989070"/>
          </a:xfrm>
        </p:spPr>
        <p:txBody>
          <a:bodyPr>
            <a:noAutofit/>
          </a:bodyPr>
          <a:p>
            <a:pPr marL="0" indent="0">
              <a:buNone/>
            </a:pPr>
            <a:endParaRPr lang="en-US" altLang="en-US" sz="1500"/>
          </a:p>
          <a:p>
            <a:r>
              <a:rPr lang="en-US" altLang="en-US" sz="2000"/>
              <a:t>-High budgets do not guarantee high ROI.</a:t>
            </a:r>
            <a:endParaRPr lang="en-US" altLang="en-US" sz="2000"/>
          </a:p>
          <a:p>
            <a:r>
              <a:rPr lang="en-US" altLang="en-US" sz="2000"/>
              <a:t>-Genres like Animation, Adventure, and Action dominate worldwide revenue.</a:t>
            </a:r>
            <a:endParaRPr lang="en-US" altLang="en-US" sz="2000"/>
          </a:p>
          <a:p>
            <a:r>
              <a:rPr lang="en-US" altLang="en-US" sz="2000"/>
              <a:t>-Foreign markets contribute a significant portion of total revenue.</a:t>
            </a:r>
            <a:endParaRPr lang="en-US" altLang="en-US" sz="2000"/>
          </a:p>
          <a:p>
            <a:r>
              <a:rPr lang="en-US" altLang="en-US" sz="2000"/>
              <a:t>-Longer runtime do not necessarily increase profitability.</a:t>
            </a:r>
            <a:endParaRPr lang="en-US" altLang="en-US" sz="2000"/>
          </a:p>
          <a:p>
            <a:r>
              <a:rPr lang="en-US" altLang="en-US" sz="2000"/>
              <a:t>-Higher IMDb ratings are associated with higher revenue, but only for sufficiently popular films.</a:t>
            </a:r>
            <a:endParaRPr lang="en-US" altLang="en-US" sz="2000"/>
          </a:p>
          <a:p>
            <a:pPr marL="0" indent="0">
              <a:buNone/>
            </a:pPr>
            <a:endParaRPr lang="en-US" alt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lang="en-US" altLang="en-US">
                <a:sym typeface="+mn-ea"/>
              </a:rPr>
              <a:t>Key Preliminary Insights (Pre-EDA)</a:t>
            </a:r>
            <a:endParaRPr lang="en-US"/>
          </a:p>
        </p:txBody>
      </p:sp>
      <p:sp>
        <p:nvSpPr>
          <p:cNvPr id="5" name="Content Placeholder 4"/>
          <p:cNvSpPr>
            <a:spLocks noGrp="1"/>
          </p:cNvSpPr>
          <p:nvPr>
            <p:ph idx="1"/>
          </p:nvPr>
        </p:nvSpPr>
        <p:spPr/>
        <p:txBody>
          <a:bodyPr/>
          <a:p>
            <a:r>
              <a:rPr lang="en-US" altLang="en-US" sz="2000">
                <a:sym typeface="+mn-ea"/>
              </a:rPr>
              <a:t>-Avoid over-investing in excessively long runtimes.</a:t>
            </a:r>
            <a:endParaRPr lang="en-US" altLang="en-US" sz="2000">
              <a:sym typeface="+mn-ea"/>
            </a:endParaRPr>
          </a:p>
          <a:p>
            <a:r>
              <a:rPr lang="en-US" altLang="en-US" sz="2000">
                <a:sym typeface="+mn-ea"/>
              </a:rPr>
              <a:t>-Use IMDb ratings as a quality signal, considering only movies with high vote counts.</a:t>
            </a:r>
            <a:endParaRPr lang="en-US" altLang="en-US" sz="2000"/>
          </a:p>
          <a:p>
            <a:r>
              <a:rPr lang="en-US" altLang="en-US" sz="2000">
                <a:sym typeface="+mn-ea"/>
              </a:rPr>
              <a:t>-Favor mid-budget productions to manage financial risk effectively</a:t>
            </a:r>
            <a:r>
              <a:rPr lang="en-US" altLang="en-US">
                <a:sym typeface="+mn-ea"/>
              </a:rPr>
              <a:t>.</a:t>
            </a:r>
            <a:endParaRPr lang="en-US" altLang="en-US"/>
          </a:p>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176655" y="915035"/>
            <a:ext cx="6798945" cy="617855"/>
          </a:xfrm>
        </p:spPr>
        <p:txBody>
          <a:bodyPr>
            <a:normAutofit/>
          </a:bodyPr>
          <a:p>
            <a:r>
              <a:rPr lang="en-US" sz="3110"/>
              <a:t>Average Movie Profit Trend Overtime</a:t>
            </a:r>
            <a:endParaRPr lang="en-US" sz="3110"/>
          </a:p>
        </p:txBody>
      </p:sp>
      <p:pic>
        <p:nvPicPr>
          <p:cNvPr id="5" name="Picture 4"/>
          <p:cNvPicPr>
            <a:picLocks noChangeAspect="1"/>
          </p:cNvPicPr>
          <p:nvPr/>
        </p:nvPicPr>
        <p:blipFill>
          <a:blip r:embed="rId1"/>
          <a:stretch>
            <a:fillRect/>
          </a:stretch>
        </p:blipFill>
        <p:spPr>
          <a:xfrm>
            <a:off x="774700" y="1651000"/>
            <a:ext cx="7726680" cy="44386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831215" y="1162050"/>
            <a:ext cx="7280910" cy="463296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lang="en-US" altLang="en-US" sz="2665"/>
              <a:t>Top 10 Most Profitable Movies</a:t>
            </a:r>
            <a:br>
              <a:rPr lang="en-US" altLang="en-US"/>
            </a:br>
            <a:r>
              <a:rPr lang="en-US" altLang="en-US" sz="1780"/>
              <a:t>This chart highlights the top 10 movies by profit. Investors can see which titles generated the highest returns and which studios are leading in profitability.</a:t>
            </a:r>
            <a:endParaRPr lang="en-US" altLang="en-US" sz="1780"/>
          </a:p>
        </p:txBody>
      </p:sp>
      <p:pic>
        <p:nvPicPr>
          <p:cNvPr id="5" name="Picture 4"/>
          <p:cNvPicPr>
            <a:picLocks noChangeAspect="1"/>
          </p:cNvPicPr>
          <p:nvPr/>
        </p:nvPicPr>
        <p:blipFill>
          <a:blip r:embed="rId1"/>
          <a:stretch>
            <a:fillRect/>
          </a:stretch>
        </p:blipFill>
        <p:spPr>
          <a:xfrm>
            <a:off x="797560" y="2169795"/>
            <a:ext cx="7536815" cy="37871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176655" y="915035"/>
            <a:ext cx="6798945" cy="913130"/>
          </a:xfrm>
        </p:spPr>
        <p:txBody>
          <a:bodyPr/>
          <a:p>
            <a:r>
              <a:rPr lang="en-US"/>
              <a:t>Total Worlwide Revenue by genre</a:t>
            </a:r>
            <a:endParaRPr lang="en-US"/>
          </a:p>
        </p:txBody>
      </p:sp>
      <p:pic>
        <p:nvPicPr>
          <p:cNvPr id="5" name="Picture 4"/>
          <p:cNvPicPr>
            <a:picLocks noChangeAspect="1"/>
          </p:cNvPicPr>
          <p:nvPr/>
        </p:nvPicPr>
        <p:blipFill>
          <a:blip r:embed="rId1"/>
          <a:stretch>
            <a:fillRect/>
          </a:stretch>
        </p:blipFill>
        <p:spPr>
          <a:xfrm>
            <a:off x="812165" y="1976120"/>
            <a:ext cx="7490460" cy="412432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176655" y="915035"/>
            <a:ext cx="6798945" cy="733425"/>
          </a:xfrm>
        </p:spPr>
        <p:txBody>
          <a:bodyPr/>
          <a:p>
            <a:r>
              <a:rPr lang="en-US" sz="2800"/>
              <a:t>Total Profit by Studio</a:t>
            </a:r>
            <a:endParaRPr lang="en-US" sz="2800"/>
          </a:p>
        </p:txBody>
      </p:sp>
      <p:pic>
        <p:nvPicPr>
          <p:cNvPr id="5" name="Picture 4"/>
          <p:cNvPicPr>
            <a:picLocks noChangeAspect="1"/>
          </p:cNvPicPr>
          <p:nvPr/>
        </p:nvPicPr>
        <p:blipFill>
          <a:blip r:embed="rId1"/>
          <a:stretch>
            <a:fillRect/>
          </a:stretch>
        </p:blipFill>
        <p:spPr>
          <a:xfrm>
            <a:off x="728345" y="1799590"/>
            <a:ext cx="7705725" cy="43243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176655" y="915035"/>
            <a:ext cx="6798945" cy="828675"/>
          </a:xfrm>
        </p:spPr>
        <p:txBody>
          <a:bodyPr/>
          <a:p>
            <a:r>
              <a:rPr lang="en-US" sz="2800"/>
              <a:t>Average ROI by Studio</a:t>
            </a:r>
            <a:endParaRPr lang="en-US" sz="2800"/>
          </a:p>
        </p:txBody>
      </p:sp>
      <p:pic>
        <p:nvPicPr>
          <p:cNvPr id="5" name="Picture 4"/>
          <p:cNvPicPr>
            <a:picLocks noChangeAspect="1"/>
          </p:cNvPicPr>
          <p:nvPr/>
        </p:nvPicPr>
        <p:blipFill>
          <a:blip r:embed="rId1"/>
          <a:stretch>
            <a:fillRect/>
          </a:stretch>
        </p:blipFill>
        <p:spPr>
          <a:xfrm>
            <a:off x="1162685" y="1781810"/>
            <a:ext cx="7200265" cy="43427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176655" y="915035"/>
            <a:ext cx="6798945" cy="798830"/>
          </a:xfrm>
        </p:spPr>
        <p:txBody>
          <a:bodyPr>
            <a:normAutofit fontScale="90000"/>
          </a:bodyPr>
          <a:p>
            <a:r>
              <a:rPr lang="en-US" sz="2665"/>
              <a:t>Total Production Budget and Profit by year</a:t>
            </a:r>
            <a:r>
              <a:rPr lang="en-US" altLang="en-US" sz="2665"/>
              <a:t> allows stakeholders to see how overall spending and profitability have changed over time.</a:t>
            </a:r>
            <a:endParaRPr lang="en-US" altLang="en-US" sz="2665"/>
          </a:p>
        </p:txBody>
      </p:sp>
      <p:pic>
        <p:nvPicPr>
          <p:cNvPr id="5" name="Picture 4"/>
          <p:cNvPicPr>
            <a:picLocks noChangeAspect="1"/>
          </p:cNvPicPr>
          <p:nvPr/>
        </p:nvPicPr>
        <p:blipFill>
          <a:blip r:embed="rId1"/>
          <a:stretch>
            <a:fillRect/>
          </a:stretch>
        </p:blipFill>
        <p:spPr>
          <a:xfrm>
            <a:off x="666750" y="1859280"/>
            <a:ext cx="7962900" cy="42583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176655" y="915035"/>
            <a:ext cx="6798945" cy="975995"/>
          </a:xfrm>
        </p:spPr>
        <p:txBody>
          <a:bodyPr>
            <a:normAutofit fontScale="90000"/>
          </a:bodyPr>
          <a:p>
            <a:br>
              <a:rPr lang="en-US"/>
            </a:br>
            <a:r>
              <a:rPr lang="en-US"/>
              <a:t>Mean Profit and ROI by Top 10 Genres</a:t>
            </a:r>
            <a:br>
              <a:rPr lang="en-US"/>
            </a:br>
            <a:endParaRPr lang="en-US"/>
          </a:p>
        </p:txBody>
      </p:sp>
      <p:pic>
        <p:nvPicPr>
          <p:cNvPr id="5" name="Picture 4"/>
          <p:cNvPicPr>
            <a:picLocks noChangeAspect="1"/>
          </p:cNvPicPr>
          <p:nvPr/>
        </p:nvPicPr>
        <p:blipFill>
          <a:blip r:embed="rId1"/>
          <a:stretch>
            <a:fillRect/>
          </a:stretch>
        </p:blipFill>
        <p:spPr>
          <a:xfrm>
            <a:off x="848360" y="2471420"/>
            <a:ext cx="7447915" cy="35591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lang="en-US" altLang="en-US">
                <a:sym typeface="+mn-ea"/>
              </a:rPr>
              <a:t>Key Takeaways from Interactive EDA</a:t>
            </a:r>
            <a:endParaRPr lang="en-US"/>
          </a:p>
        </p:txBody>
      </p:sp>
      <p:sp>
        <p:nvSpPr>
          <p:cNvPr id="5" name="Text Placeholder 4"/>
          <p:cNvSpPr>
            <a:spLocks noGrp="1"/>
          </p:cNvSpPr>
          <p:nvPr>
            <p:ph type="body" idx="1"/>
          </p:nvPr>
        </p:nvSpPr>
        <p:spPr/>
        <p:txBody>
          <a:bodyPr>
            <a:normAutofit/>
          </a:bodyPr>
          <a:p>
            <a:pPr marL="0" indent="0">
              <a:buNone/>
            </a:pPr>
            <a:endParaRPr lang="en-US" altLang="en-US" sz="2000"/>
          </a:p>
          <a:p>
            <a:r>
              <a:rPr lang="en-US" altLang="en-US" sz="2000"/>
              <a:t>The interactive EDA revealed several key insights: ROI peaks at mid-range budgets; international markets are critical for overall success; genre selection strongly impacts revenue; runtime should be optimized rather than maximized; ratings influence revenue mainly when paired with popularity; and overall studio strategy plays a significant role in profitability</a:t>
            </a:r>
            <a:endParaRPr lang="en-US" alt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lang="en-US" altLang="en-US">
                <a:sym typeface="+mn-ea"/>
              </a:rPr>
              <a:t>Transition to Final Recommendations</a:t>
            </a:r>
            <a:endParaRPr lang="en-US"/>
          </a:p>
        </p:txBody>
      </p:sp>
      <p:sp>
        <p:nvSpPr>
          <p:cNvPr id="5" name="Content Placeholder 4"/>
          <p:cNvSpPr>
            <a:spLocks noGrp="1"/>
          </p:cNvSpPr>
          <p:nvPr>
            <p:ph idx="1"/>
          </p:nvPr>
        </p:nvSpPr>
        <p:spPr/>
        <p:txBody>
          <a:bodyPr>
            <a:normAutofit lnSpcReduction="10000"/>
          </a:bodyPr>
          <a:p>
            <a:r>
              <a:rPr lang="en-US" altLang="en-US" sz="2000"/>
              <a:t>Insights from the interactive EDA were used to guide investment decisions, genre selection, budget allocation, runtime planning, and market targeting. These findings set the stage for the final business recommendations and conclusion. </a:t>
            </a:r>
            <a:endParaRPr lang="en-US" altLang="en-US" sz="2000"/>
          </a:p>
          <a:p>
            <a:r>
              <a:rPr lang="en-US" altLang="en-US" sz="2000">
                <a:sym typeface="+mn-ea"/>
              </a:rPr>
              <a:t>Focus on maximizing ROI rather than just revenue.</a:t>
            </a:r>
            <a:endParaRPr lang="en-US" altLang="en-US" sz="2000">
              <a:sym typeface="+mn-ea"/>
            </a:endParaRPr>
          </a:p>
          <a:p>
            <a:r>
              <a:rPr lang="en-US" altLang="en-US" sz="2000">
                <a:sym typeface="+mn-ea"/>
              </a:rPr>
              <a:t>Target genres with strong international appeal</a:t>
            </a:r>
            <a:r>
              <a:rPr lang="en-US" altLang="en-US">
                <a:sym typeface="+mn-ea"/>
              </a:rPr>
              <a:t>.</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normAutofit fontScale="90000"/>
          </a:bodyPr>
          <a:p>
            <a:r>
              <a:rPr lang="en-US" altLang="en-US"/>
              <a:t>1. Target High-Profit vs. High-ROI Genres</a:t>
            </a:r>
            <a:endParaRPr lang="en-US" altLang="en-US"/>
          </a:p>
        </p:txBody>
      </p:sp>
      <p:sp>
        <p:nvSpPr>
          <p:cNvPr id="5" name="Content Placeholder 4"/>
          <p:cNvSpPr>
            <a:spLocks noGrp="1"/>
          </p:cNvSpPr>
          <p:nvPr>
            <p:ph idx="1"/>
          </p:nvPr>
        </p:nvSpPr>
        <p:spPr/>
        <p:txBody>
          <a:bodyPr>
            <a:normAutofit lnSpcReduction="20000"/>
          </a:bodyPr>
          <a:p>
            <a:r>
              <a:rPr lang="en-US" altLang="en-US" sz="2220">
                <a:sym typeface="+mn-ea"/>
              </a:rPr>
              <a:t>The data shows a clear distinction between genres that generate massive revenue and those that offer the best return on investment (ROI).</a:t>
            </a:r>
            <a:endParaRPr lang="en-US" altLang="en-US" sz="2220">
              <a:sym typeface="+mn-ea"/>
            </a:endParaRPr>
          </a:p>
          <a:p>
            <a:r>
              <a:rPr lang="en-US" altLang="en-US" sz="2220">
                <a:sym typeface="+mn-ea"/>
              </a:rPr>
              <a:t>For Maximum Profit (The "Blockbuster" Strategy): Focus on Animation, Sci-Fi, and Adventure. These genres have the highest average profits (all above $250M).</a:t>
            </a:r>
            <a:endParaRPr lang="en-US" altLang="en-US" sz="2220">
              <a:sym typeface="+mn-ea"/>
            </a:endParaRPr>
          </a:p>
          <a:p>
            <a:r>
              <a:rPr lang="en-US" altLang="en-US" sz="2220">
                <a:sym typeface="+mn-ea"/>
              </a:rPr>
              <a:t>Recommendation: Invest in high-quality animation or franchise-able sci-fi/adventure stories. These require higher budgets but offer the largest absolute financial gains.</a:t>
            </a:r>
            <a:endParaRPr lang="en-US" altLang="en-US" sz="2220"/>
          </a:p>
          <a:p>
            <a:endParaRPr lang="en-US" sz="222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idx="1"/>
          </p:nvPr>
        </p:nvSpPr>
        <p:spPr/>
        <p:txBody>
          <a:bodyPr>
            <a:normAutofit/>
          </a:bodyPr>
          <a:p>
            <a:r>
              <a:rPr lang="en-US" altLang="en-US" sz="2000"/>
              <a:t>For Maximum ROI (The "Efficiency" Strategy): Focus on Mystery and Thriller. While these genres have lower average absolute profits, their ROI is significantly higher (Mystery has an ROI of over 10x).</a:t>
            </a:r>
            <a:endParaRPr lang="en-US" altLang="en-US" sz="2000"/>
          </a:p>
          <a:p>
            <a:r>
              <a:rPr lang="en-US" altLang="en-US" sz="2000"/>
              <a:t>Recommendation: Produce low-to-mid-budget mystery or thriller films (e.g., the Blumhouse model). These are "safer" bets for consistent returns on smaller capital outlays.</a:t>
            </a:r>
            <a:endParaRPr lang="en-US" altLang="en-US" sz="2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176655" y="778510"/>
            <a:ext cx="6798945" cy="1179830"/>
          </a:xfrm>
        </p:spPr>
        <p:txBody>
          <a:bodyPr/>
          <a:p>
            <a:r>
              <a:rPr lang="en-US" altLang="en-US">
                <a:sym typeface="+mn-ea"/>
              </a:rPr>
              <a:t>2. Optimize Production Budgets</a:t>
            </a:r>
            <a:endParaRPr lang="en-US"/>
          </a:p>
        </p:txBody>
      </p:sp>
      <p:sp>
        <p:nvSpPr>
          <p:cNvPr id="5" name="Text Placeholder 4"/>
          <p:cNvSpPr>
            <a:spLocks noGrp="1"/>
          </p:cNvSpPr>
          <p:nvPr>
            <p:ph type="body" idx="1"/>
          </p:nvPr>
        </p:nvSpPr>
        <p:spPr>
          <a:xfrm>
            <a:off x="1176655" y="1788795"/>
            <a:ext cx="6798945" cy="4145915"/>
          </a:xfrm>
        </p:spPr>
        <p:txBody>
          <a:bodyPr>
            <a:noAutofit/>
          </a:bodyPr>
          <a:p>
            <a:endParaRPr lang="en-US" altLang="en-US" sz="1100"/>
          </a:p>
          <a:p>
            <a:r>
              <a:rPr lang="en-US" altLang="en-US" sz="2000"/>
              <a:t>The relationship between budget and profit suggests a "diminishing returns" effect on ROI as budgets increase.</a:t>
            </a:r>
            <a:endParaRPr lang="en-US" altLang="en-US" sz="2000"/>
          </a:p>
          <a:p>
            <a:r>
              <a:rPr lang="en-US" altLang="en-US" sz="2000"/>
              <a:t>Low Budget Sweet Spot: Movies with budgets under $20M have an average ROI of 5.5, the highest of any budget tier. This tier is excellent for portfolio diversification.</a:t>
            </a:r>
            <a:endParaRPr lang="en-US" altLang="en-US" sz="2000"/>
          </a:p>
          <a:p>
            <a:r>
              <a:rPr lang="en-US" altLang="en-US" sz="2000"/>
              <a:t>Scale for Profit: Average profit jumps significantly once the budget exceeds $100M (averaging over $360M in profit).</a:t>
            </a:r>
            <a:endParaRPr lang="en-US" altLang="en-US" sz="2000"/>
          </a:p>
          <a:p>
            <a:endParaRPr lang="en-US" altLang="en-US" sz="2300"/>
          </a:p>
          <a:p>
            <a:pPr marL="0" indent="0">
              <a:buNone/>
            </a:pPr>
            <a:r>
              <a:rPr lang="en-US" altLang="en-US" sz="2300"/>
              <a:t> </a:t>
            </a:r>
            <a:endParaRPr lang="en-US" altLang="en-US" sz="23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76655" y="820420"/>
            <a:ext cx="6798945" cy="1002030"/>
          </a:xfrm>
        </p:spPr>
        <p:txBody>
          <a:bodyPr/>
          <a:p>
            <a:r>
              <a:rPr lang="en-US" altLang="en-US"/>
              <a:t>3. Strategic Release Timing</a:t>
            </a:r>
            <a:endParaRPr lang="en-US" altLang="en-US"/>
          </a:p>
        </p:txBody>
      </p:sp>
      <p:sp>
        <p:nvSpPr>
          <p:cNvPr id="3" name="Text Placeholder 2"/>
          <p:cNvSpPr>
            <a:spLocks noGrp="1"/>
          </p:cNvSpPr>
          <p:nvPr>
            <p:ph type="body" idx="1"/>
          </p:nvPr>
        </p:nvSpPr>
        <p:spPr>
          <a:xfrm>
            <a:off x="1176655" y="1794510"/>
            <a:ext cx="6798945" cy="4140200"/>
          </a:xfrm>
        </p:spPr>
        <p:txBody>
          <a:bodyPr>
            <a:noAutofit/>
          </a:bodyPr>
          <a:p>
            <a:r>
              <a:rPr lang="en-US" altLang="en-US" sz="2300"/>
              <a:t>Timing is critical for maximizing theatrical performance.</a:t>
            </a:r>
            <a:endParaRPr lang="en-US" altLang="en-US" sz="2300"/>
          </a:p>
          <a:p>
            <a:r>
              <a:rPr lang="en-US" altLang="en-US" sz="2300"/>
              <a:t>Peak Profit Windows: June, May, and July (Summer) followed by November and December (Holidays) are the most profitable months.</a:t>
            </a:r>
            <a:endParaRPr lang="en-US" altLang="en-US" sz="2300"/>
          </a:p>
          <a:p>
            <a:r>
              <a:rPr lang="en-US" altLang="en-US" sz="2300"/>
              <a:t>The "January" Opportunity: Interestingly, January shows a high ROI (5.5) despite lower absolute profits.</a:t>
            </a:r>
            <a:endParaRPr lang="en-US" altLang="en-US" sz="2300"/>
          </a:p>
          <a:p>
            <a:pPr marL="0" indent="0">
              <a:buNone/>
            </a:pPr>
            <a:endParaRPr lang="en-US" altLang="en-US"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76655" y="696595"/>
            <a:ext cx="6798945" cy="729615"/>
          </a:xfrm>
        </p:spPr>
        <p:txBody>
          <a:bodyPr/>
          <a:p>
            <a:r>
              <a:rPr lang="en-US" altLang="en-US">
                <a:sym typeface="+mn-ea"/>
              </a:rPr>
              <a:t>4. Focus on Quality</a:t>
            </a:r>
            <a:endParaRPr lang="en-US"/>
          </a:p>
        </p:txBody>
      </p:sp>
      <p:sp>
        <p:nvSpPr>
          <p:cNvPr id="3" name="Text Placeholder 2"/>
          <p:cNvSpPr>
            <a:spLocks noGrp="1"/>
          </p:cNvSpPr>
          <p:nvPr>
            <p:ph type="body" idx="1"/>
          </p:nvPr>
        </p:nvSpPr>
        <p:spPr>
          <a:xfrm>
            <a:off x="1176655" y="1426210"/>
            <a:ext cx="6798945" cy="4508500"/>
          </a:xfrm>
        </p:spPr>
        <p:txBody>
          <a:bodyPr>
            <a:noAutofit/>
          </a:bodyPr>
          <a:p>
            <a:endParaRPr lang="en-US" altLang="en-US" sz="2000"/>
          </a:p>
          <a:p>
            <a:r>
              <a:rPr lang="en-US" altLang="en-US" sz="2000"/>
              <a:t>Popularity is the Best Predictor: There is a strong correlation (0.53) between a movie's popularity score and its profit.</a:t>
            </a:r>
            <a:endParaRPr lang="en-US" altLang="en-US" sz="2000"/>
          </a:p>
          <a:p>
            <a:r>
              <a:rPr lang="en-US" altLang="en-US" sz="2000"/>
              <a:t>Recommendation: Allocate a significant portion of the total budget to marketing and "hype" generation, as popularity is more closely tied to profit than the rating itself.</a:t>
            </a:r>
            <a:endParaRPr lang="en-US" altLang="en-US" sz="2000"/>
          </a:p>
          <a:p>
            <a:r>
              <a:rPr lang="en-US" altLang="en-US" sz="2000"/>
              <a:t>Runtime Matters: There is a moderate positive correlation between runtime and audience rating (0.42). Longer, more "epic" films tend to be perceived as higher quality by audiences.</a:t>
            </a:r>
            <a:endParaRPr lang="en-US" altLang="en-US" sz="2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r>
              <a:rPr lang="en-US" altLang="en-US">
                <a:sym typeface="+mn-ea"/>
              </a:rPr>
              <a:t>If the goal is market dominance, aim for the $100M+ budget tier. If the goal is capital efficiency and risk mitigation, stay in the &lt;$20M tier</a:t>
            </a:r>
            <a:endParaRPr lang="en-US" altLang="en-US">
              <a:sym typeface="+mn-ea"/>
            </a:endParaRPr>
          </a:p>
          <a:p>
            <a:r>
              <a:rPr lang="en-US" altLang="en-US">
                <a:sym typeface="+mn-ea"/>
              </a:rPr>
              <a:t>Use Summer and December for high budget/high profit. Consider January for niche, lower-budget films to take advantage of lower competition and high ROI efficiency.</a:t>
            </a:r>
            <a:endParaRPr lang="en-US" altLang="en-US"/>
          </a:p>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p:txBody>
          <a:bodyPr/>
          <a:p>
            <a:r>
              <a:rPr lang="en-US"/>
              <a:t>Next Steps</a:t>
            </a:r>
            <a:endParaRPr lang="en-US"/>
          </a:p>
        </p:txBody>
      </p:sp>
      <p:sp>
        <p:nvSpPr>
          <p:cNvPr id="5" name="Text Placeholder 4"/>
          <p:cNvSpPr>
            <a:spLocks noGrp="1"/>
          </p:cNvSpPr>
          <p:nvPr>
            <p:ph type="body" idx="1"/>
          </p:nvPr>
        </p:nvSpPr>
        <p:spPr/>
        <p:txBody>
          <a:bodyPr/>
          <a:p>
            <a:r>
              <a:rPr lang="en-US" altLang="en-US"/>
              <a:t>Ensure that for high-budget films, the narrative has enough depth to justify a longer runtime (120+ minutes), as this correlates with better audience reception.</a:t>
            </a:r>
            <a:endParaRPr lang="en-US"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1176655" y="723265"/>
            <a:ext cx="6798945" cy="907415"/>
          </a:xfrm>
        </p:spPr>
        <p:txBody>
          <a:bodyPr/>
          <a:p>
            <a:r>
              <a:rPr lang="en-US"/>
              <a:t>Next Steps Summary</a:t>
            </a:r>
            <a:endParaRPr lang="en-US"/>
          </a:p>
        </p:txBody>
      </p:sp>
      <p:sp>
        <p:nvSpPr>
          <p:cNvPr id="5" name="Text Placeholder 4"/>
          <p:cNvSpPr>
            <a:spLocks noGrp="1"/>
          </p:cNvSpPr>
          <p:nvPr>
            <p:ph type="body" idx="1"/>
          </p:nvPr>
        </p:nvSpPr>
        <p:spPr>
          <a:xfrm>
            <a:off x="1176655" y="1623060"/>
            <a:ext cx="6798945" cy="4311650"/>
          </a:xfrm>
        </p:spPr>
        <p:txBody>
          <a:bodyPr>
            <a:noAutofit/>
          </a:bodyPr>
          <a:p>
            <a:r>
              <a:rPr lang="en-US" altLang="en-US" sz="2000"/>
              <a:t>Diversify the Portfolio: Balance high-risk/high-reward Sci-Fi/Animation projects with low-risk/high-efficiency Mystery/Thrillers.</a:t>
            </a:r>
            <a:endParaRPr lang="en-US" altLang="en-US" sz="2000"/>
          </a:p>
          <a:p>
            <a:r>
              <a:rPr lang="en-US" altLang="en-US" sz="2000"/>
              <a:t>Refine the Greenlight Process: Prioritize projects that have a clear path to high "Popularity" (e.g., existing IP or high social media potential).</a:t>
            </a:r>
            <a:endParaRPr lang="en-US" altLang="en-US" sz="2000"/>
          </a:p>
          <a:p>
            <a:r>
              <a:rPr lang="en-US" altLang="en-US" sz="2000"/>
              <a:t>Calendar Planning: Lock in Summer or Holiday release dates early for major productions.</a:t>
            </a:r>
            <a:endParaRPr lang="en-US" altLang="en-US" sz="2000"/>
          </a:p>
          <a:p>
            <a:r>
              <a:rPr lang="en-US" altLang="en-US" sz="2000"/>
              <a:t>Studio Benchmarking: Model operations after high-performing studios like Buena Vista (Disney) for profit-at-scale, or Warner Bros (New Line) for high-ROI efficiency.</a:t>
            </a:r>
            <a:endParaRPr lang="en-US" altLang="en-US" sz="2000"/>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image" Target="../media/image5.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0</TotalTime>
  <Words>8475</Words>
  <Application>WPS Presentation</Application>
  <PresentationFormat>On-screen Show (4:3)</PresentationFormat>
  <Paragraphs>166</Paragraphs>
  <Slides>30</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Arial</vt:lpstr>
      <vt:lpstr>SimSun</vt:lpstr>
      <vt:lpstr>Wingdings</vt:lpstr>
      <vt:lpstr>Arial</vt:lpstr>
      <vt:lpstr>Garamond</vt:lpstr>
      <vt:lpstr>Microsoft YaHei</vt:lpstr>
      <vt:lpstr>Arial Unicode MS</vt:lpstr>
      <vt:lpstr>Calibri</vt:lpstr>
      <vt:lpstr>Organic</vt:lpstr>
      <vt:lpstr>THE NEW GOLDEN AGE : DISRUPTING THE STUDIO SYSTEM THROUGH DATA DRIVEN PRDUCTION</vt:lpstr>
      <vt:lpstr>Business Objective</vt:lpstr>
      <vt:lpstr>Dataset Overview</vt:lpstr>
      <vt:lpstr>Data Preparation</vt:lpstr>
      <vt:lpstr>EXPLORATORY DATA ANALYSIS</vt:lpstr>
      <vt:lpstr>EXPLORATORY DATA ANALYSIS</vt:lpstr>
      <vt:lpstr>EXPLORATORY DATA ANALYSIS</vt:lpstr>
      <vt:lpstr>EXPLORATORY DATA ANALYSIS</vt:lpstr>
      <vt:lpstr>PowerPoint 演示文稿</vt:lpstr>
      <vt:lpstr>EXPLORATORY DATA ANALYSIS</vt:lpstr>
      <vt:lpstr>Key Preliminary Insights (Pre-EDA)</vt:lpstr>
      <vt:lpstr>Key Preliminary Insights (Pre-EDA)</vt:lpstr>
      <vt:lpstr>Average Movie Profit Trend Overtime</vt:lpstr>
      <vt:lpstr>PowerPoint 演示文稿</vt:lpstr>
      <vt:lpstr>Top 10 Most Profitable Movies This chart highlights the top 10 movies by profit. Investors can see which titles generated the highest returns and which studios are leading in profitability.</vt:lpstr>
      <vt:lpstr>Total Worlwide Revenue by genre</vt:lpstr>
      <vt:lpstr>Total Profit by Studio</vt:lpstr>
      <vt:lpstr>Average ROI by Studio</vt:lpstr>
      <vt:lpstr>Total Production Budget and Profit by year allows stakeholders to see how overall spending and profitability have changed over time.</vt:lpstr>
      <vt:lpstr>PowerPoint 演示文稿</vt:lpstr>
      <vt:lpstr>Key Takeaways from Interactive EDA</vt:lpstr>
      <vt:lpstr>Transition to Final Recommendations</vt:lpstr>
      <vt:lpstr>1. Target High-Profit vs. High-ROI Genres</vt:lpstr>
      <vt:lpstr>PowerPoint 演示文稿</vt:lpstr>
      <vt:lpstr>2. Optimize Production Budgets</vt:lpstr>
      <vt:lpstr>3. Strategic Release Timing</vt:lpstr>
      <vt:lpstr>4. Focus on Quality</vt:lpstr>
      <vt:lpstr>Next Steps</vt:lpstr>
      <vt:lpstr>Next Steps</vt:lpstr>
      <vt:lpstr>Next Steps Summary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Aviation Risk Analysis</dc:title>
  <dc:creator>SHIRU</dc:creator>
  <dc:description>generated using python-pptx</dc:description>
  <cp:lastModifiedBy>BOB</cp:lastModifiedBy>
  <cp:revision>15</cp:revision>
  <dcterms:created xsi:type="dcterms:W3CDTF">2013-01-27T09:14:00Z</dcterms:created>
  <dcterms:modified xsi:type="dcterms:W3CDTF">2026-02-04T19:53:07Z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F480834ED05C424F9BF77630E7D619BC_13</vt:lpwstr>
  </property>
  <property fmtid="{D5CDD505-2E9C-101B-9397-08002B2CF9AE}" pid="3" name="KSOProductBuildVer">
    <vt:lpwstr>1033-12.2.0.23196</vt:lpwstr>
  </property>
</Properties>
</file>